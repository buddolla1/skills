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 type="screen16x9"/>
  <p:notesSz cx="685800" cy="9144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Skills Overview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2" name="Subtitle 1"/>
          <p:cNvSpPr txBox="1"/>
          <p:nvPr/>
        </p:nvSpPr>
        <p:spPr>
          <a:xfrm>
            <a:off x="640080" y="1143000"/>
            <a:ext cx="10241280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550" b="0" dirty="0">
                <a:solidFill>
                  <a:srgbClr val="5B6472"/>
                </a:solidFill>
                <a:latin typeface="Aptos"/>
              </a:rPr>
              <a:t>Agent Skills are a portable, open format for adding specialized capabilities, workflows, and reference material to AI agents on demand.</a:t>
            </a:r>
            <a:endParaRPr lang="en-US" sz="1550" b="0">
              <a:solidFill>
                <a:srgbClr val="5B6472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Presentation-ready summary of the Agent Skills format.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What Skills Are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3" name="Body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00" b="0" dirty="0">
                <a:solidFill>
                  <a:srgbClr val="1F2937"/>
                </a:solidFill>
                <a:latin typeface="Aptos"/>
              </a:rPr>
              <a:t>Each skill is a self-contained directory centered on SKILL.md. The file defines the skill's purpose, when it should activate, and how the agent should execute it.</a:t>
            </a:r>
            <a:endParaRPr lang="en-US" sz="180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Required metadata such as name and description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Instructions that tell an agent how to perform a task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Optional scripts, templates, and reference materials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Core unit: one folder, one purpose.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How Skills Work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Discovery: the agent loads only the skill name and description.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Activation: when the task matches, the agent loads the full SKILL.md.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Execution: the agent follows the instructions and loads supporting files only when needed.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Progressive disclosure keeps the base context lean.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Why Skills Matter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Clear intent for both humans and agents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Better reuse across many tasks and agents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Portable files that are easy to version and share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Extensible delivery through code, examples, and references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Consistent execution for complex workflows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Skills turn expert knowledge into reusable capability.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Skills vs Custom Instructions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3" name="Body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00" b="0" dirty="0">
                <a:solidFill>
                  <a:srgbClr val="1F2937"/>
                </a:solidFill>
                <a:latin typeface="Aptos"/>
              </a:rPr>
              <a:t>Use skills for reusable capabilities. Use custom instructions for project rules, coding conventions, and review preferences.</a:t>
            </a:r>
            <a:endParaRPr lang="en-US" sz="180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Different tools for different levels of customization.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Specification Highlights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A skill is a directory containing SKILL.md, with optional scripts/, references/, and assets/ folders.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Key fields include name, description, license, compatibility, metadata, and allowed-tools.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Keep the main SKILL.md concise, load supporting files only when needed, and validate the skill before publishing.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Specification keeps the format portable and predictable.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Scripts and Examples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Use one-off commands when an existing tool already solves the job well.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Bundle scripts when the workflow is complex enough to benefit from tested, reusable logic.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Avoid interactive prompts; use clear help text, structured output, and safe defaults.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Scripts should be reliable, non-interactive, and agent-friendly.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 txBox="1"/>
          <p:nvPr/>
        </p:nvSpPr>
        <p:spPr>
          <a:xfrm>
            <a:off x="640080" y="566928"/>
            <a:ext cx="1078992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3000" b="1" dirty="0">
                <a:solidFill>
                  <a:srgbClr val="0F766E"/>
                </a:solidFill>
                <a:latin typeface="Aptos"/>
              </a:rPr>
              <a:t>Examples and Repository Context</a:t>
            </a:r>
            <a:endParaRPr lang="en-US" sz="3000" b="1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Bullets 1"/>
          <p:cNvSpPr txBox="1"/>
          <p:nvPr/>
        </p:nvSpPr>
        <p:spPr>
          <a:xfrm>
            <a:off x="804672" y="1417320"/>
            <a:ext cx="10561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Valid names: pdf-processing, data-analysis, code-review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Invalid names: PDF-Processing, -pdf, pdf--processing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Good description: specific, task-focused, and clear about when to use it</a:t>
            </a:r>
            <a:endParaRPr lang="en-US" sz="1850" b="0">
              <a:solidFill>
                <a:srgbClr val="1F2937"/>
              </a:solidFill>
              <a:latin typeface="Aptos"/>
            </a:endParaRPr>
          </a:p>
          <a:p>
            <a:r>
              <a:t/>
            </a:r>
          </a:p>
          <a:p>
            <a:pPr/>
            <a:r>
              <a:rPr lang="en-US" sz="1850" b="0" dirty="0">
                <a:solidFill>
                  <a:srgbClr val="1F2937"/>
                </a:solidFill>
                <a:latin typeface="Aptos"/>
              </a:rPr>
              <a:t>• The repository root SKILL.md is the index for available skills.</a:t>
            </a:r>
            <a:endParaRPr lang="en-US" sz="185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5" name="Footer 1"/>
          <p:cNvSpPr txBox="1"/>
          <p:nvPr/>
        </p:nvSpPr>
        <p:spPr>
          <a:xfrm>
            <a:off x="804672" y="6144768"/>
            <a:ext cx="1024128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1200" b="0" dirty="0">
                <a:solidFill>
                  <a:srgbClr val="5B6472"/>
                </a:solidFill>
                <a:latin typeface="Aptos"/>
              </a:rPr>
              <a:t>Use the most specific skill that matches the task.</a:t>
            </a:r>
            <a:endParaRPr lang="en-US" sz="1200" b="0">
              <a:solidFill>
                <a:srgbClr val="5B6472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4F1EB"/>
      </a:lt2>
      <a:accent1>
        <a:srgbClr val="0F766E"/>
      </a:accent1>
      <a:accent2>
        <a:srgbClr val="134E4A"/>
      </a:accent2>
      <a:accent3>
        <a:srgbClr val="F59E0B"/>
      </a:accent3>
      <a:accent4>
        <a:srgbClr val="2563E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flip="none" rotWithShape="1">
          <a:gsLst>
            <a:gs pos="0">
              <a:schemeClr val="phClr"/>
            </a:gs>
            <a:gs pos="100000">
              <a:schemeClr val="phClr"/>
            </a:gs>
          </a:gsLst>
          <a:lin ang="16200000" scaled="1"/>
        </a:gradFill>
        <a:gradFill flip="none" rotWithShape="1">
          <a:gsLst>
            <a:gs pos="0">
              <a:schemeClr val="phClr"/>
            </a:gs>
            <a:gs pos="100000">
              <a:schemeClr val="phClr"/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